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9fd5074b-6662-b40b-aafd-8598aff14ccd}">
          <p14:sldIdLst>
            <p14:sldId id="256"/>
            <p14:sldId id="257"/>
          </p14:sldIdLst>
        </p14:section>
        <p14:section name="Demo and design" id="{31bd753d-b210-4a14-eebd-40f1890a155c}">
          <p14:sldIdLst>
            <p14:sldId id="258"/>
            <p14:sldId id="259"/>
          </p14:sldIdLst>
        </p14:section>
        <p14:section name="Results" id="{e20e48dc-d4f5-93c0-19eb-9cfab8f3f282}">
          <p14:sldIdLst>
            <p14:sldId id="260"/>
            <p14:sldId id="261"/>
          </p14:sldIdLst>
        </p14:section>
        <p14:section name="Close" id="{33cf2afd-a1ff-d7e1-5608-88925293d2eb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33"/>
                </a:solidFill>
                <a:latin typeface="+mn-lt"/>
              </a:rPr>
              <a:t>Share of 37 answerable questions with the right entry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Keyword</c:v>
                  </c:pt>
                  <c:pt idx="1">
                    <c:v>Semantic</c:v>
                  </c:pt>
                  <c:pt idx="2">
                    <c:v>Hybrid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83.8</c:v>
                </c:pt>
                <c:pt idx="1">
                  <c:v>94.6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Hit@3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Keyword</c:v>
                  </c:pt>
                  <c:pt idx="1">
                    <c:v>Semantic</c:v>
                  </c:pt>
                  <c:pt idx="2">
                    <c:v>Hybrid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97.3</c:v>
                </c:pt>
                <c:pt idx="1">
                  <c:v>97.3</c:v>
                </c:pt>
                <c:pt idx="2">
                  <c:v>97.3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9525" cap="flat">
              <a:solidFill>
                <a:srgbClr val="EEF3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33"/>
                </a:solidFill>
                <a:latin typeface="+mn-lt"/>
              </a:rPr>
              <a:t>Answer / ask / refuse decisions correct on unseen questions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Decisions correct (%)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First design, 24 unseen</c:v>
                  </c:pt>
                  <c:pt idx="1">
                    <c:v>Second design, 44 sealed (run once)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75</c:v>
                </c:pt>
                <c:pt idx="1">
                  <c:v>88.6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9525" cap="flat">
              <a:solidFill>
                <a:srgbClr val="EEF3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the AI writes the answer, it does not decide what is true. Retrieval and code decide what the knowledge base supports; the model only writes it up, and code checks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the tool answers everything. The goal is trustworthy answers and honest refusals.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example chips. After step 1 click a citation chip to open the full entry beside the answer. After step 2 answer one clarifying question to show it narrowing.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points: hybrid search, a deterministic gate before the model, and validation in code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semantic-only won at rank 1 on this set. Hybrid is a robustness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design scored 94-96% on the questions it was tuned on and 75% on 24 new ones. One live question exposed three faults: the gate read the wrong entry's score, the badge contradicted the answer, and escalations were incomplete. I fixed those, wrote 44 new questions before changing anything, froze the code and ran them once: 88.6%. The two sets differ in size and content, so this is not a like-for-like comparison. The sealed set is now spent.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 failures from the held-out run,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 this slide so it names the specific tools you used and the files you reviewed or changed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TriageGPT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An AI troubleshooting assistant for L1/L2 support that answers only from the knowledge base, shows its source, and says so when it does not know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Parth Biyani  |  Pine Labs Technology Operations Intern assignment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309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Sample data: Northwind Payments is a fictional company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Support engineers lose time, and wrong guesses cost more</a:t>
            </a:r>
            <a:endParaRPr lang="en-US" sz="3400" dirty="0"/>
          </a:p>
        </p:txBody>
      </p:sp>
      <p:sp>
        <p:nvSpPr>
          <p:cNvPr id="3" name="problem-card-1"/>
          <p:cNvSpPr/>
          <p:nvPr/>
        </p:nvSpPr>
        <p:spPr>
          <a:xfrm>
            <a:off x="640080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Runbooks are long. Finding the right entry for a half-described symptom takes minutes during an incident.</a:t>
            </a:r>
            <a:endParaRPr lang="en-US" sz="1600" dirty="0"/>
          </a:p>
        </p:txBody>
      </p:sp>
      <p:sp>
        <p:nvSpPr>
          <p:cNvPr id="6" name="problem-card-2"/>
          <p:cNvSpPr/>
          <p:nvPr/>
        </p:nvSpPr>
        <p:spPr>
          <a:xfrm>
            <a:off x="4389120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Guessing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confident wrong fix, or an escalation to the wrong team, makes an incident longer.</a:t>
            </a:r>
            <a:endParaRPr lang="en-US" sz="1600" dirty="0"/>
          </a:p>
        </p:txBody>
      </p:sp>
      <p:sp>
        <p:nvSpPr>
          <p:cNvPr id="9" name="problem-card-3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Inventing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697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chatbot that fills gaps with plausible steps is worse than none when money is moving.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Goal: answer from the manual, show the source, and say so when the manual does not cover 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Live demo: four questions, one for each behaviour</a:t>
            </a:r>
            <a:endParaRPr lang="en-US" sz="3400" dirty="0"/>
          </a:p>
        </p:txBody>
      </p:sp>
      <p:sp>
        <p:nvSpPr>
          <p:cNvPr id="3" name="demo-step-1"/>
          <p:cNvSpPr/>
          <p:nvPr/>
        </p:nvSpPr>
        <p:spPr>
          <a:xfrm>
            <a:off x="640080" y="1664208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642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5544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 the KB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1554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"customer says money got cut twice for one order"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5544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Grounded answer: L1/L2 checks, escalation, cited entry</a:t>
            </a:r>
            <a:endParaRPr lang="en-US" sz="1600" dirty="0"/>
          </a:p>
        </p:txBody>
      </p:sp>
      <p:sp>
        <p:nvSpPr>
          <p:cNvPr id="8" name="demo-step-2"/>
          <p:cNvSpPr/>
          <p:nvPr/>
        </p:nvSpPr>
        <p:spPr>
          <a:xfrm>
            <a:off x="640080" y="2834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724912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Vague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724912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"payment failing"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272491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Asks 2-3 questions that separate the candidates</a:t>
            </a:r>
            <a:endParaRPr lang="en-US" sz="1600" dirty="0"/>
          </a:p>
        </p:txBody>
      </p:sp>
      <p:sp>
        <p:nvSpPr>
          <p:cNvPr id="13" name="demo-step-3"/>
          <p:cNvSpPr/>
          <p:nvPr/>
        </p:nvSpPr>
        <p:spPr>
          <a:xfrm>
            <a:off x="640080" y="400507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005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895344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Out of scope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895344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"my laptop VPN is not connecting"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389534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Says the KB does not cover it; no invented steps</a:t>
            </a:r>
            <a:endParaRPr lang="en-US" sz="1600" dirty="0"/>
          </a:p>
        </p:txBody>
      </p:sp>
      <p:sp>
        <p:nvSpPr>
          <p:cNvPr id="18" name="demo-step-4"/>
          <p:cNvSpPr/>
          <p:nvPr/>
        </p:nvSpPr>
        <p:spPr>
          <a:xfrm>
            <a:off x="640080" y="5175504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51755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5065776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Guardrails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5065776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 card number, then "ignore all previous instructions"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5065776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Card masked; injection refused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Then switch on "Under the hood": gate decision, scores, model, prompt version, tokens, latency.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model writes; code decides and checks</a:t>
            </a:r>
            <a:endParaRPr lang="en-US" sz="3400" dirty="0"/>
          </a:p>
        </p:txBody>
      </p:sp>
      <p:sp>
        <p:nvSpPr>
          <p:cNvPr id="3" name="arch-box-1"/>
          <p:cNvSpPr/>
          <p:nvPr/>
        </p:nvSpPr>
        <p:spPr>
          <a:xfrm>
            <a:off x="640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Mask PII and check for injection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→</a:t>
            </a:r>
            <a:endParaRPr lang="en-US" sz="2600" dirty="0"/>
          </a:p>
        </p:txBody>
      </p:sp>
      <p:sp>
        <p:nvSpPr>
          <p:cNvPr id="6" name="arch-box-2"/>
          <p:cNvSpPr/>
          <p:nvPr/>
        </p:nvSpPr>
        <p:spPr>
          <a:xfrm>
            <a:off x="2926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7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Retrieve: keyword + semantic, fused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→</a:t>
            </a:r>
            <a:endParaRPr lang="en-US" sz="2600" dirty="0"/>
          </a:p>
        </p:txBody>
      </p:sp>
      <p:sp>
        <p:nvSpPr>
          <p:cNvPr id="9" name="arch-box-3"/>
          <p:cNvSpPr/>
          <p:nvPr/>
        </p:nvSpPr>
        <p:spPr>
          <a:xfrm>
            <a:off x="5212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Gate: refuse, confident, or uncertain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→</a:t>
            </a:r>
            <a:endParaRPr lang="en-US" sz="2600" dirty="0"/>
          </a:p>
        </p:txBody>
      </p:sp>
      <p:sp>
        <p:nvSpPr>
          <p:cNvPr id="12" name="arch-box-4"/>
          <p:cNvSpPr/>
          <p:nvPr/>
        </p:nvSpPr>
        <p:spPr>
          <a:xfrm>
            <a:off x="7498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Model writes from top 3 entries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arch-box-5"/>
          <p:cNvSpPr/>
          <p:nvPr/>
        </p:nvSpPr>
        <p:spPr>
          <a:xfrm>
            <a:off x="9784080" y="173736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73736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Validate citations and teams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66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search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690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Keyword search catches exact codes like RC 91 and 504. Embeddings catch paraphrases. No vector database for 67 entries, on purpose.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3566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gate before the model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40690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Nothing close: the model is never called. Confident: it writes up the answer. Uncertain: it chooses to answer, ask, or refuse.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3566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after the model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0690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Any statement citing an entry that was not retrieved, or a team not in the directory, is dropped in code.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Hybrid retrieval: strong, but not a clear win at rank 1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46720" y="1554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say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10312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Semantic search alone had the best Hit@1.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Hybrid was the only one to reach 100% in the top 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 kept hybrid for exact error codes, but I did not measure it to be better at rank 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Unseen questions: 75% before, 88.6% after the fixes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card-1"/>
          <p:cNvSpPr/>
          <p:nvPr/>
        </p:nvSpPr>
        <p:spPr>
          <a:xfrm>
            <a:off x="6949440" y="1463040"/>
            <a:ext cx="46634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32320" y="155448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155448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out-of-scope questions wrongly answered, on every set</a:t>
            </a:r>
            <a:endParaRPr lang="en-US" sz="1500" dirty="0"/>
          </a:p>
        </p:txBody>
      </p:sp>
      <p:sp>
        <p:nvSpPr>
          <p:cNvPr id="7" name="stat-card-2"/>
          <p:cNvSpPr/>
          <p:nvPr/>
        </p:nvSpPr>
        <p:spPr>
          <a:xfrm>
            <a:off x="6949440" y="2971800"/>
            <a:ext cx="46634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306324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306324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260 statements supported by a judge model (sealed set)</a:t>
            </a:r>
            <a:endParaRPr lang="en-US" sz="1500" dirty="0"/>
          </a:p>
        </p:txBody>
      </p:sp>
      <p:sp>
        <p:nvSpPr>
          <p:cNvPr id="10" name="stat-card-3"/>
          <p:cNvSpPr/>
          <p:nvPr/>
        </p:nvSpPr>
        <p:spPr>
          <a:xfrm>
            <a:off x="6949440" y="4480560"/>
            <a:ext cx="46634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4572000"/>
            <a:ext cx="1737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s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45720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median response time, p95 6.9 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Where it breaks</a:t>
            </a:r>
            <a:endParaRPr lang="en-US" sz="3400" dirty="0"/>
          </a:p>
        </p:txBody>
      </p:sp>
      <p:sp>
        <p:nvSpPr>
          <p:cNvPr id="3" name="limit-card-1"/>
          <p:cNvSpPr/>
          <p:nvPr/>
        </p:nvSpPr>
        <p:spPr>
          <a:xfrm>
            <a:off x="640080" y="1554480"/>
            <a:ext cx="5303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vague messages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 of 5 vague sealed questions ("the system seems down") were told "not in KB" instead of being asked what is wrong.</a:t>
            </a:r>
            <a:endParaRPr lang="en-US" sz="1600" dirty="0"/>
          </a:p>
        </p:txBody>
      </p:sp>
      <p:sp>
        <p:nvSpPr>
          <p:cNvPr id="6" name="limit-card-2"/>
          <p:cNvSpPr/>
          <p:nvPr/>
        </p:nvSpPr>
        <p:spPr>
          <a:xfrm>
            <a:off x="6217920" y="1554480"/>
            <a:ext cx="5303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737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can still over-refuse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317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KEY_REVOKED question was judged outside the KB, although the KB covers it.</a:t>
            </a:r>
            <a:endParaRPr lang="en-US" sz="1600" dirty="0"/>
          </a:p>
        </p:txBody>
      </p:sp>
      <p:sp>
        <p:nvSpPr>
          <p:cNvPr id="9" name="limit-card-3"/>
          <p:cNvSpPr/>
          <p:nvPr/>
        </p:nvSpPr>
        <p:spPr>
          <a:xfrm>
            <a:off x="640080" y="3794760"/>
            <a:ext cx="5303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77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Free-tier limits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572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Daily token limits ran out twice during evaluation, so different runs used different models.</a:t>
            </a:r>
            <a:endParaRPr lang="en-US" sz="1600" dirty="0"/>
          </a:p>
        </p:txBody>
      </p:sp>
      <p:sp>
        <p:nvSpPr>
          <p:cNvPr id="12" name="limit-card-4"/>
          <p:cNvSpPr/>
          <p:nvPr/>
        </p:nvSpPr>
        <p:spPr>
          <a:xfrm>
            <a:off x="6217920" y="3794760"/>
            <a:ext cx="53035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977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Small, one-author test sets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Sets of 24-52 questions by one person; the sealed set is spent; the judge is itself a model.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Next steps, and who did what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5303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Larger labelled set with a proper train/test split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Calibrated confidence instead of hand-set thresholds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Feedback button that files a ticket against the cited entry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Ticket-system integration for escalations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Hindi and mixed-language queries</a:t>
            </a:r>
            <a:endParaRPr lang="en-US" sz="1700" dirty="0"/>
          </a:p>
        </p:txBody>
      </p:sp>
      <p:sp>
        <p:nvSpPr>
          <p:cNvPr id="5" name="ai-usage-card"/>
          <p:cNvSpPr/>
          <p:nvPr/>
        </p:nvSpPr>
        <p:spPr>
          <a:xfrm>
            <a:off x="6400800" y="1463040"/>
            <a:ext cx="5212080" cy="438912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tools: what was whose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AI-assisted: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drafting the sample knowledge base, scaffolding and boilerplate.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My decisions: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hybrid retrieval, no vector database, a gate before the model, validation in code, the thresholds, the test sets, the prompt rules, and reviewing every file.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iageGPT">
  <a:themeElements>
    <a:clrScheme name="TriageGPT">
      <a:dk1>
        <a:srgbClr val="1B2A33"/>
      </a:dk1>
      <a:lt1>
        <a:srgbClr val="FFFFFF"/>
      </a:lt1>
      <a:dk2>
        <a:srgbClr val="0F4C5C"/>
      </a:dk2>
      <a:lt2>
        <a:srgbClr val="EEF3F4"/>
      </a:lt2>
      <a:accent1>
        <a:srgbClr val="0F4C5C"/>
      </a:accent1>
      <a:accent2>
        <a:srgbClr val="E8A33D"/>
      </a:accent2>
      <a:accent3>
        <a:srgbClr val="2E8B6E"/>
      </a:accent3>
      <a:accent4>
        <a:srgbClr val="C8553D"/>
      </a:accent4>
      <a:accent5>
        <a:srgbClr val="5B7C8D"/>
      </a:accent5>
      <a:accent6>
        <a:srgbClr val="8DB3C0"/>
      </a:accent6>
      <a:hlink>
        <a:srgbClr val="0F4C5C"/>
      </a:hlink>
      <a:folHlink>
        <a:srgbClr val="5B7C8D"/>
      </a:folHlink>
    </a:clrScheme>
    <a:fontScheme name="TriageGP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TriageGPT: AI troubleshooting assistant for L1/L2 support</dc:title>
  <dc:subject>PptxGenJS Presentation</dc:subject>
  <dc:creator>Parth Biyani</dc:creator>
  <cp:lastModifiedBy>Parth Biyani</cp:lastModifiedBy>
  <cp:revision>1</cp:revision>
  <dcterms:created xsi:type="dcterms:W3CDTF">2026-10-24T11:12:37Z</dcterms:created>
  <dcterms:modified xsi:type="dcterms:W3CDTF">2026-10-24T11:12:37Z</dcterms:modified>
</cp:coreProperties>
</file>